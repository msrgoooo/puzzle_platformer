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6B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565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839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52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3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17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3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67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52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03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696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386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542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41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61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06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3FD3C8-660F-4E0C-AFC6-78CA989ECA5C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3C50C8-BFBB-4952-9719-F207F0A64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28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4D947-06F1-8917-B717-DB87B48AF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752" y="1041984"/>
            <a:ext cx="10191563" cy="864418"/>
          </a:xfrm>
        </p:spPr>
        <p:txBody>
          <a:bodyPr>
            <a:normAutofit/>
          </a:bodyPr>
          <a:lstStyle/>
          <a:p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Платформер с головоломкой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017CA6-9E32-C7D1-C25C-2956F1CD8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5972" y="1906402"/>
            <a:ext cx="7377343" cy="366281"/>
          </a:xfrm>
        </p:spPr>
        <p:txBody>
          <a:bodyPr>
            <a:noAutofit/>
          </a:bodyPr>
          <a:lstStyle/>
          <a:p>
            <a:r>
              <a:rPr lang="ru-RU" sz="2400" dirty="0"/>
              <a:t>Авторы: Нечаева Маргарита и Силаева Марина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4BB2F-DC12-FE77-4D4E-0FA53624B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00" b="93167" l="5750" r="94500">
                        <a14:foregroundMark x1="57583" y1="10417" x2="40667" y2="6000"/>
                        <a14:foregroundMark x1="40667" y1="6000" x2="33167" y2="15000"/>
                        <a14:foregroundMark x1="20000" y1="17833" x2="7417" y2="36667"/>
                        <a14:foregroundMark x1="7417" y1="36667" x2="6000" y2="53833"/>
                        <a14:foregroundMark x1="6000" y1="53833" x2="12333" y2="71417"/>
                        <a14:foregroundMark x1="12333" y1="71417" x2="16167" y2="76500"/>
                        <a14:foregroundMark x1="15167" y1="21417" x2="9667" y2="38000"/>
                        <a14:foregroundMark x1="9667" y1="38000" x2="13833" y2="25167"/>
                        <a14:foregroundMark x1="13833" y1="25167" x2="6167" y2="40167"/>
                        <a14:foregroundMark x1="6167" y1="40167" x2="5917" y2="47417"/>
                        <a14:foregroundMark x1="15167" y1="23000" x2="7583" y2="39667"/>
                        <a14:foregroundMark x1="7583" y1="39667" x2="7417" y2="41500"/>
                        <a14:foregroundMark x1="15167" y1="24750" x2="5917" y2="41250"/>
                        <a14:foregroundMark x1="15417" y1="22750" x2="9083" y2="35500"/>
                        <a14:foregroundMark x1="9083" y1="35500" x2="9000" y2="37417"/>
                        <a14:foregroundMark x1="14667" y1="24000" x2="6167" y2="39083"/>
                        <a14:foregroundMark x1="6167" y1="39083" x2="6167" y2="39417"/>
                        <a14:foregroundMark x1="69167" y1="9333" x2="77952" y2="13882"/>
                        <a14:foregroundMark x1="92337" y1="35660" x2="94000" y2="43500"/>
                        <a14:foregroundMark x1="94000" y1="43500" x2="92650" y2="54830"/>
                        <a14:foregroundMark x1="90760" y1="64594" x2="87667" y2="69750"/>
                        <a14:foregroundMark x1="71167" y1="88583" x2="50500" y2="93167"/>
                        <a14:foregroundMark x1="50500" y1="93167" x2="28500" y2="87000"/>
                        <a14:foregroundMark x1="13833" y1="24250" x2="6750" y2="38750"/>
                        <a14:foregroundMark x1="6750" y1="38750" x2="6667" y2="43333"/>
                        <a14:foregroundMark x1="93333" y1="51833" x2="90083" y2="66833"/>
                        <a14:foregroundMark x1="90083" y1="66833" x2="88417" y2="69667"/>
                        <a14:foregroundMark x1="93833" y1="57667" x2="93833" y2="53667"/>
                        <a14:foregroundMark x1="94500" y1="54417" x2="94500" y2="54417"/>
                        <a14:foregroundMark x1="93333" y1="54417" x2="93583" y2="54417"/>
                        <a14:foregroundMark x1="35083" y1="6500" x2="20917" y2="15833"/>
                        <a14:foregroundMark x1="20917" y1="15833" x2="11500" y2="27417"/>
                        <a14:foregroundMark x1="11500" y1="27417" x2="5750" y2="51833"/>
                        <a14:foregroundMark x1="52250" y1="93167" x2="27583" y2="87500"/>
                        <a14:backgroundMark x1="78083" y1="11917" x2="87500" y2="22417"/>
                        <a14:backgroundMark x1="87667" y1="21000" x2="93583" y2="35167"/>
                        <a14:backgroundMark x1="93583" y1="35167" x2="93833" y2="35333"/>
                        <a14:backgroundMark x1="95500" y1="38417" x2="95333" y2="51750"/>
                        <a14:backgroundMark x1="94186" y1="54775" x2="94091" y2="55025"/>
                        <a14:backgroundMark x1="95333" y1="51750" x2="94263" y2="545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16214" y="2614060"/>
            <a:ext cx="3778482" cy="3778482"/>
          </a:xfrm>
          <a:prstGeom prst="rect">
            <a:avLst/>
          </a:prstGeom>
          <a:ln>
            <a:noFill/>
          </a:ln>
          <a:effectLst>
            <a:glow rad="1435100">
              <a:schemeClr val="accent1">
                <a:alpha val="38000"/>
              </a:schemeClr>
            </a:glow>
            <a:outerShdw blurRad="330200" dist="38100" dir="5400000" sx="9000" sy="9000" algn="ctr" rotWithShape="0">
              <a:srgbClr val="000000">
                <a:alpha val="0"/>
              </a:srgbClr>
            </a:outerShdw>
            <a:softEdge rad="11250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A149A4-A5C8-EC60-D795-B7680E192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83" b="91146" l="10000" r="90000">
                        <a14:foregroundMark x1="51050" y1="10867" x2="45500" y2="10625"/>
                        <a14:foregroundMark x1="52667" y1="10938" x2="51194" y2="10874"/>
                        <a14:foregroundMark x1="49628" y1="10094" x2="48667" y2="14063"/>
                        <a14:foregroundMark x1="50179" y1="7821" x2="49916" y2="8905"/>
                        <a14:backgroundMark x1="49500" y1="6146" x2="50333" y2="7708"/>
                        <a14:backgroundMark x1="50167" y1="8542" x2="52083" y2="9583"/>
                        <a14:backgroundMark x1="50167" y1="8750" x2="50167" y2="8750"/>
                        <a14:backgroundMark x1="50333" y1="7396" x2="50333" y2="7396"/>
                        <a14:backgroundMark x1="50167" y1="7917" x2="50167" y2="7917"/>
                        <a14:backgroundMark x1="54833" y1="91146" x2="54833" y2="91146"/>
                        <a14:backgroundMark x1="54583" y1="91146" x2="54583" y2="91146"/>
                        <a14:backgroundMark x1="55000" y1="91354" x2="55000" y2="91354"/>
                        <a14:backgroundMark x1="56333" y1="91667" x2="53750" y2="90833"/>
                        <a14:backgroundMark x1="55000" y1="91146" x2="55000" y2="91146"/>
                        <a14:backgroundMark x1="55250" y1="91667" x2="55250" y2="91667"/>
                        <a14:backgroundMark x1="55250" y1="91667" x2="55250" y2="91667"/>
                        <a14:backgroundMark x1="55000" y1="90000" x2="55000" y2="90000"/>
                        <a14:backgroundMark x1="54583" y1="91354" x2="54583" y2="91354"/>
                        <a14:backgroundMark x1="55000" y1="90833" x2="55000" y2="90833"/>
                        <a14:backgroundMark x1="55000" y1="90833" x2="55000" y2="90833"/>
                        <a14:backgroundMark x1="55000" y1="90833" x2="55000" y2="90833"/>
                        <a14:backgroundMark x1="54167" y1="90521" x2="56333" y2="91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18067" flipH="1">
            <a:off x="4255367" y="3262178"/>
            <a:ext cx="1408786" cy="11576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404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7F066-EAF2-3614-27FA-0FC3027A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5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Cambria Math" panose="02040503050406030204" pitchFamily="18" charset="0"/>
                <a:ea typeface="Cambria Math" panose="02040503050406030204" pitchFamily="18" charset="0"/>
              </a:rPr>
              <a:t>Цели и задачи проекта</a:t>
            </a:r>
            <a:r>
              <a:rPr lang="ru-RU" sz="6000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018EDB-718A-EAE0-57B7-538927F34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3" y="1346231"/>
            <a:ext cx="11913832" cy="52942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/>
              <a:t>Цель:</a:t>
            </a:r>
          </a:p>
          <a:p>
            <a:r>
              <a:rPr lang="ru-RU" sz="2800" dirty="0"/>
              <a:t>Создание обучающей </a:t>
            </a:r>
            <a:r>
              <a:rPr lang="ru-RU" sz="2800" dirty="0" err="1"/>
              <a:t>платформернной</a:t>
            </a:r>
            <a:r>
              <a:rPr lang="ru-RU" sz="2800" dirty="0"/>
              <a:t> игры с элементами головоломок для развития логического мышления</a:t>
            </a:r>
          </a:p>
          <a:p>
            <a:pPr marL="0" indent="0">
              <a:buNone/>
            </a:pPr>
            <a:r>
              <a:rPr lang="ru-RU" sz="2800" dirty="0"/>
              <a:t>Задачи:</a:t>
            </a:r>
          </a:p>
          <a:p>
            <a:r>
              <a:rPr lang="ru-RU" sz="2800" dirty="0"/>
              <a:t>Разработать игровой движок на Python с использованием библиотеки </a:t>
            </a:r>
            <a:r>
              <a:rPr lang="ru-RU" sz="2800" dirty="0" err="1"/>
              <a:t>Arcade</a:t>
            </a:r>
            <a:endParaRPr lang="ru-RU" sz="2800" dirty="0"/>
          </a:p>
          <a:p>
            <a:r>
              <a:rPr lang="ru-RU" sz="2800" dirty="0"/>
              <a:t>Реализовать физику движения персонажа и объектов</a:t>
            </a:r>
          </a:p>
          <a:p>
            <a:r>
              <a:rPr lang="ru-RU" sz="2800" dirty="0"/>
              <a:t>Создать 5 уникальных уровней с возрастающей сложностью</a:t>
            </a:r>
          </a:p>
          <a:p>
            <a:r>
              <a:rPr lang="ru-RU" sz="2800" dirty="0"/>
              <a:t>Разработать систему взаимодействия игрока с объектами</a:t>
            </a:r>
          </a:p>
          <a:p>
            <a:r>
              <a:rPr lang="ru-RU" sz="2800" dirty="0"/>
              <a:t>Реализовать пользовательский интерфейс и систему меню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304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5DF5B-DA2B-400C-9F6B-17892A93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latin typeface="Georgia" panose="02040502050405020303" pitchFamily="18" charset="0"/>
              </a:rPr>
              <a:t>Аналоги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CE91E-B644-B839-F3B0-BB207DCD5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49" y="108283"/>
            <a:ext cx="9448399" cy="5890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Аналоги:</a:t>
            </a:r>
          </a:p>
          <a:p>
            <a:r>
              <a:rPr lang="en-US" sz="3200" dirty="0"/>
              <a:t>Mario</a:t>
            </a:r>
          </a:p>
          <a:p>
            <a:r>
              <a:rPr lang="ru-RU" sz="3200" dirty="0"/>
              <a:t>Любые платформеры с головоломками</a:t>
            </a:r>
          </a:p>
          <a:p>
            <a:pPr marL="0" indent="0">
              <a:buNone/>
            </a:pPr>
            <a:r>
              <a:rPr lang="ru-RU" sz="3600" b="1" dirty="0"/>
              <a:t>Преимущества  нашей игры</a:t>
            </a:r>
            <a:r>
              <a:rPr lang="ru-RU" sz="3600" dirty="0"/>
              <a:t>:</a:t>
            </a:r>
          </a:p>
          <a:p>
            <a:r>
              <a:rPr lang="ru-RU" sz="3200" dirty="0"/>
              <a:t>Простота в реализации</a:t>
            </a:r>
            <a:endParaRPr lang="en-US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3D389D-8D66-F432-1DC6-78E534A9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49" b="99496" l="1711" r="98118">
                        <a14:foregroundMark x1="41488" y1="13613" x2="34816" y2="1849"/>
                        <a14:foregroundMark x1="34816" y1="1849" x2="32678" y2="12353"/>
                        <a14:foregroundMark x1="11634" y1="29328" x2="2224" y2="33193"/>
                        <a14:foregroundMark x1="2224" y1="33193" x2="4619" y2="40504"/>
                        <a14:foregroundMark x1="4619" y1="40504" x2="9581" y2="46891"/>
                        <a14:foregroundMark x1="9581" y1="46891" x2="6929" y2="50000"/>
                        <a14:foregroundMark x1="5389" y1="29496" x2="1796" y2="36807"/>
                        <a14:foregroundMark x1="1796" y1="36807" x2="5389" y2="42941"/>
                        <a14:foregroundMark x1="25492" y1="81261" x2="29341" y2="87899"/>
                        <a14:foregroundMark x1="29341" y1="87899" x2="25663" y2="81933"/>
                        <a14:foregroundMark x1="16253" y1="83950" x2="10607" y2="91513"/>
                        <a14:foregroundMark x1="10607" y1="91513" x2="15825" y2="87983"/>
                        <a14:foregroundMark x1="41232" y1="75126" x2="42173" y2="83866"/>
                        <a14:foregroundMark x1="42173" y1="83866" x2="43199" y2="77059"/>
                        <a14:foregroundMark x1="63644" y1="89580" x2="69204" y2="95462"/>
                        <a14:foregroundMark x1="69204" y1="95462" x2="77456" y2="97029"/>
                        <a14:foregroundMark x1="77422" y1="96983" x2="75364" y2="96471"/>
                        <a14:foregroundMark x1="75364" y1="96471" x2="67836" y2="97563"/>
                        <a14:foregroundMark x1="67836" y1="97563" x2="67494" y2="92773"/>
                        <a14:foregroundMark x1="88366" y1="62437" x2="97776" y2="64538"/>
                        <a14:foregroundMark x1="97776" y1="64538" x2="92900" y2="56218"/>
                        <a14:foregroundMark x1="92900" y1="56218" x2="85372" y2="53193"/>
                        <a14:foregroundMark x1="98118" y1="68235" x2="96835" y2="62017"/>
                        <a14:backgroundMark x1="79812" y1="98403" x2="87083" y2="99076"/>
                        <a14:backgroundMark x1="87083" y1="99076" x2="83405" y2="96975"/>
                        <a14:backgroundMark x1="80496" y1="98235" x2="82635" y2="97563"/>
                        <a14:backgroundMark x1="80240" y1="97143" x2="82121" y2="97983"/>
                        <a14:backgroundMark x1="79213" y1="96807" x2="81266" y2="98403"/>
                        <a14:backgroundMark x1="79812" y1="97227" x2="77844" y2="975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32067">
            <a:off x="7539105" y="1236190"/>
            <a:ext cx="4308225" cy="4385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321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633038-B166-D696-B745-BEC7F619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036" y="4716061"/>
            <a:ext cx="2138299" cy="2131195"/>
          </a:xfrm>
          <a:prstGeom prst="rect">
            <a:avLst/>
          </a:prstGeom>
          <a:ln>
            <a:noFill/>
          </a:ln>
          <a:effectLst>
            <a:outerShdw dir="5400000" sx="200000" sy="200000" algn="ctr" rotWithShape="0">
              <a:srgbClr val="000000">
                <a:alpha val="0"/>
              </a:srgbClr>
            </a:outerShdw>
            <a:softEdge rad="112500"/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75511-BF0A-C168-4925-7BB6AD73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02" y="107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latin typeface="Bahnschrift Condensed" panose="020B0502040204020203" pitchFamily="34" charset="0"/>
              </a:rPr>
              <a:t>Процесс создания: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AD91CD-26F4-256F-3A6C-6FA838A3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43" y="1241659"/>
            <a:ext cx="11057055" cy="4106779"/>
          </a:xfrm>
        </p:spPr>
        <p:txBody>
          <a:bodyPr/>
          <a:lstStyle/>
          <a:p>
            <a:r>
              <a:rPr lang="ru-RU" sz="3600" dirty="0">
                <a:latin typeface="Bahnschrift" panose="020B0502040204020203" pitchFamily="34" charset="0"/>
              </a:rPr>
              <a:t>Планирование работы программы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Создание основных функций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Создание интерфейса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Добавление музыки и различных текстур</a:t>
            </a:r>
          </a:p>
          <a:p>
            <a:r>
              <a:rPr lang="ru-RU" sz="3600" dirty="0">
                <a:latin typeface="Bahnschrift" panose="020B0502040204020203" pitchFamily="34" charset="0"/>
              </a:rPr>
              <a:t>Тестирование правильности работы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C89F88-4221-1FFE-BBE4-79D23CC7C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617" y1="38930" x2="49244" y2="49751"/>
                        <a14:foregroundMark x1="49244" y1="49751" x2="34635" y2="46891"/>
                        <a14:foregroundMark x1="60076" y1="43532" x2="46222" y2="51617"/>
                        <a14:foregroundMark x1="46222" y1="51617" x2="58942" y2="46891"/>
                        <a14:foregroundMark x1="53652" y1="52239" x2="54282" y2="51990"/>
                        <a14:foregroundMark x1="47859" y1="52612" x2="50630" y2="50498"/>
                      </a14:backgroundRemoval>
                    </a14:imgEffect>
                  </a14:imgLayer>
                </a14:imgProps>
              </a:ext>
            </a:extLst>
          </a:blip>
          <a:srcRect r="32219"/>
          <a:stretch>
            <a:fillRect/>
          </a:stretch>
        </p:blipFill>
        <p:spPr>
          <a:xfrm>
            <a:off x="9919549" y="-361120"/>
            <a:ext cx="2272451" cy="3394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39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9C3BE-530E-FF2B-E43D-A3EB1932D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737" y="0"/>
            <a:ext cx="10131425" cy="1028329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Georgia" panose="02040502050405020303" pitchFamily="18" charset="0"/>
              </a:rPr>
              <a:t>Демонстрация работы: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CD3EE78-9EF9-A228-7852-EB621F50F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37" y="1028329"/>
            <a:ext cx="4044272" cy="27905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87F9E3-527C-AE06-07E8-DDC3B1636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898" y="1028329"/>
            <a:ext cx="4044272" cy="27728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542BB7-218A-A392-05AD-8242BD0CB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33" y="3912039"/>
            <a:ext cx="4044272" cy="265785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D0198D-F797-C46A-CA70-4690A71C8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802" y="1115771"/>
            <a:ext cx="3556198" cy="23628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6FB38B-10CD-1CD8-00FF-6F76A7079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749" y="3784912"/>
            <a:ext cx="4272718" cy="28604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28469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BF613-61C7-246B-EFED-24D0E271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90537" y="908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Arial Black" panose="020B0A04020102020204" pitchFamily="34" charset="0"/>
              </a:rPr>
              <a:t>Итоги: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8A33A-535B-CBFA-9535-7136663E7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77" y="1655545"/>
            <a:ext cx="10131425" cy="1614222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У нас получилась интересная игра, которая развивает мышление</a:t>
            </a:r>
          </a:p>
          <a:p>
            <a:r>
              <a:rPr lang="ru-RU" sz="2400" dirty="0">
                <a:latin typeface="Bahnschrift Light" panose="020B0502040204020203" pitchFamily="34" charset="0"/>
              </a:rPr>
              <a:t>В дальнейшем мы сможем развивать ее и делать более интересной и разнообразной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442629-DE37-3B52-AA41-67439CB735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2" b="14910"/>
          <a:stretch>
            <a:fillRect/>
          </a:stretch>
        </p:blipFill>
        <p:spPr>
          <a:xfrm>
            <a:off x="280824" y="3176052"/>
            <a:ext cx="3055779" cy="281703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C40E2C-BB93-5421-98EA-07BFC2B76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640888" y="3378183"/>
            <a:ext cx="2742398" cy="27423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85374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92</TotalTime>
  <Words>124</Words>
  <Application>Microsoft Office PowerPoint</Application>
  <PresentationFormat>Широкоэкранный</PresentationFormat>
  <Paragraphs>27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7" baseType="lpstr">
      <vt:lpstr>Arial</vt:lpstr>
      <vt:lpstr>Arial Black</vt:lpstr>
      <vt:lpstr>Bahnschrift</vt:lpstr>
      <vt:lpstr>Bahnschrift Condensed</vt:lpstr>
      <vt:lpstr>Bahnschrift Light</vt:lpstr>
      <vt:lpstr>Calibri</vt:lpstr>
      <vt:lpstr>Calibri Light</vt:lpstr>
      <vt:lpstr>Cambria Math</vt:lpstr>
      <vt:lpstr>Georgia</vt:lpstr>
      <vt:lpstr>Segoe UI Semibold</vt:lpstr>
      <vt:lpstr>Небесная</vt:lpstr>
      <vt:lpstr>Платформер с головоломкой</vt:lpstr>
      <vt:lpstr>Цели и задачи проекта:</vt:lpstr>
      <vt:lpstr>Аналоги</vt:lpstr>
      <vt:lpstr>Процесс создания:</vt:lpstr>
      <vt:lpstr>Демонстрация работы:</vt:lpstr>
      <vt:lpstr>Итоги: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Силаев</dc:creator>
  <cp:lastModifiedBy>Андрей Силаев</cp:lastModifiedBy>
  <cp:revision>9</cp:revision>
  <dcterms:created xsi:type="dcterms:W3CDTF">2026-01-20T15:06:32Z</dcterms:created>
  <dcterms:modified xsi:type="dcterms:W3CDTF">2026-01-27T19:06:55Z</dcterms:modified>
</cp:coreProperties>
</file>